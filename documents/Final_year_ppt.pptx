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CC1DD2-E4F0-4246-85DA-B4CF9B7A6803}">
  <a:tblStyle styleId="{F9CC1DD2-E4F0-4246-85DA-B4CF9B7A68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ee259af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ee259af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ee259af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ee259af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ee259aff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ee259aff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ee259aff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ee259aff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ee259aff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ee259aff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ee259aff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ee259aff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ee259aff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ee259aff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e259aff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ee259aff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ee259affb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ee259affb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ee259affb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ee259affb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ee259affb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ee259affb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59affb_2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59affb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ee259affb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ee259affb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ee259affb_2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ee259affb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ee259affb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ee259affb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efedf8de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efedf8de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efedf8d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efedf8d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efedf8de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efedf8de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efedf8de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efedf8de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thesai.org/Downloads/Volume10No7/Paper_7-FLACC_Fuzzy_Logic_Approach_for_Congestion_Control.pdf?utm_source=chatgpt.co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3493"/>
            <a:ext cx="8520600" cy="519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400"/>
              <a:t>Title:</a:t>
            </a:r>
            <a:r>
              <a:rPr lang="en-GB" sz="2400"/>
              <a:t> A Fuzzy Congestion Control Protocol Based on Active Queue Management in Wireless Sensor Networks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- - - Team Details - - -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Mentor </a:t>
            </a:r>
            <a:r>
              <a:rPr lang="en-GB" sz="2400"/>
              <a:t>: Mrs. Moumita Deb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Team Leader</a:t>
            </a:r>
            <a:r>
              <a:rPr lang="en-GB" sz="2400"/>
              <a:t> : Anurag Ganguly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Other Team Members: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 Amit Roy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Swarnendu Roy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Deep Das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Presentation </a:t>
            </a:r>
            <a:r>
              <a:rPr b="1" lang="en-GB"/>
              <a:t>Outline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76925" y="1070425"/>
            <a:ext cx="8389800" cy="40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Introduction &amp; Background : Congestion and AQM in WSNs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Routing in WSN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How Does Congestion Occur in WSN?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Traditional Congestion Control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GB" sz="1700">
                <a:solidFill>
                  <a:schemeClr val="dk1"/>
                </a:solidFill>
              </a:rPr>
              <a:t>Fuzzy Congestion Control	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Types of Fuzzy Congestion Control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Fuzzy Congestion Control using Active Queue Management (AQM)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Comparison of Research Papers on Fuzzy Congestion Control in WSNs using AQM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Motivation for the Study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Experiment Plan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Novelty of Our Project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Conclusion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References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990"/>
              <a:buNone/>
            </a:pPr>
            <a:r>
              <a:rPr b="1" lang="en-GB" sz="2514">
                <a:latin typeface="Calibri"/>
                <a:ea typeface="Calibri"/>
                <a:cs typeface="Calibri"/>
                <a:sym typeface="Calibri"/>
              </a:rPr>
              <a:t>Introduction &amp; Background : Congestion and AQM in WSNs</a:t>
            </a:r>
            <a:endParaRPr b="1" sz="251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5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478700"/>
            <a:ext cx="4733100" cy="32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A </a:t>
            </a:r>
            <a:r>
              <a:rPr b="1" lang="en-GB" sz="1300">
                <a:solidFill>
                  <a:schemeClr val="dk1"/>
                </a:solidFill>
              </a:rPr>
              <a:t>Wireless Sensor Network (WSN)</a:t>
            </a:r>
            <a:r>
              <a:rPr lang="en-GB" sz="1300">
                <a:solidFill>
                  <a:schemeClr val="dk1"/>
                </a:solidFill>
              </a:rPr>
              <a:t> is a collection of spatially distributed sensor nodes that monitor physical or environmental conditions (e.g., temperature, humidity, pressure, vibration).</a:t>
            </a:r>
            <a:br>
              <a:rPr lang="en-GB" sz="1300">
                <a:solidFill>
                  <a:schemeClr val="dk1"/>
                </a:solidFill>
              </a:rPr>
            </a:br>
            <a:r>
              <a:rPr lang="en-GB" sz="1300">
                <a:solidFill>
                  <a:schemeClr val="dk1"/>
                </a:solidFill>
              </a:rPr>
              <a:t>Each node typically consists of: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Sensing unit</a:t>
            </a:r>
            <a:r>
              <a:rPr lang="en-GB" sz="1300">
                <a:solidFill>
                  <a:schemeClr val="dk1"/>
                </a:solidFill>
              </a:rPr>
              <a:t> (to collect data)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Processing unit</a:t>
            </a:r>
            <a:r>
              <a:rPr lang="en-GB" sz="1300">
                <a:solidFill>
                  <a:schemeClr val="dk1"/>
                </a:solidFill>
              </a:rPr>
              <a:t> (to process data locally)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Communication unit</a:t>
            </a:r>
            <a:r>
              <a:rPr lang="en-GB" sz="1300">
                <a:solidFill>
                  <a:schemeClr val="dk1"/>
                </a:solidFill>
              </a:rPr>
              <a:t> (to transmit data)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Power unit</a:t>
            </a:r>
            <a:r>
              <a:rPr lang="en-GB" sz="1300">
                <a:solidFill>
                  <a:schemeClr val="dk1"/>
                </a:solidFill>
              </a:rPr>
              <a:t> (usually battery-powered, resource-constrained)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350" y="1972598"/>
            <a:ext cx="3956625" cy="19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02975" y="292775"/>
            <a:ext cx="311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520"/>
              <a:t>Routing in WSN</a:t>
            </a:r>
            <a:endParaRPr b="1" sz="252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202975" y="1048425"/>
            <a:ext cx="489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Routing in WSN differs from traditional networks due to </a:t>
            </a:r>
            <a:r>
              <a:rPr b="1" lang="en-GB" sz="1200">
                <a:solidFill>
                  <a:schemeClr val="dk1"/>
                </a:solidFill>
              </a:rPr>
              <a:t>energy constraints, scalability issues, and dynamic topology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Common routing protocols: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Flat Routing</a:t>
            </a:r>
            <a:r>
              <a:rPr lang="en-GB" sz="1200">
                <a:solidFill>
                  <a:schemeClr val="dk1"/>
                </a:solidFill>
              </a:rPr>
              <a:t> (e.g., Flooding, Gossiping) – all nodes play equal roles.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Hierarchical Routing</a:t>
            </a:r>
            <a:r>
              <a:rPr lang="en-GB" sz="1200">
                <a:solidFill>
                  <a:schemeClr val="dk1"/>
                </a:solidFill>
              </a:rPr>
              <a:t> (e.g., LEACH, PEGASIS) – nodes are grouped into clusters, cluster heads manage communication.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Location-Based Routing</a:t>
            </a:r>
            <a:r>
              <a:rPr lang="en-GB" sz="1200">
                <a:solidFill>
                  <a:schemeClr val="dk1"/>
                </a:solidFill>
              </a:rPr>
              <a:t> (e.g., GEAR, GPSR) – uses node positions to guide routing.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Efficient routing is essential to minimize </a:t>
            </a:r>
            <a:r>
              <a:rPr b="1" lang="en-GB" sz="1200">
                <a:solidFill>
                  <a:schemeClr val="dk1"/>
                </a:solidFill>
              </a:rPr>
              <a:t>energy consumption and congestion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9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663" y="3593068"/>
            <a:ext cx="3728375" cy="130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3775" y="607299"/>
            <a:ext cx="3662149" cy="26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5256925" y="3244275"/>
            <a:ext cx="36621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</a:rPr>
              <a:t>Low Energy Adaptive Clustering Hierarchy (LEACH)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370"/>
              <a:t>How Does Congestion Occur in WSN?</a:t>
            </a:r>
            <a:endParaRPr b="1" sz="23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Congestion</a:t>
            </a:r>
            <a:r>
              <a:rPr lang="en-GB" sz="1300">
                <a:solidFill>
                  <a:schemeClr val="dk1"/>
                </a:solidFill>
              </a:rPr>
              <a:t> in WSN happens when network resources (buffer, channel, energy) are </a:t>
            </a:r>
            <a:r>
              <a:rPr b="1" lang="en-GB" sz="1300">
                <a:solidFill>
                  <a:schemeClr val="dk1"/>
                </a:solidFill>
              </a:rPr>
              <a:t>overloaded</a:t>
            </a:r>
            <a:r>
              <a:rPr lang="en-GB" sz="1300">
                <a:solidFill>
                  <a:schemeClr val="dk1"/>
                </a:solidFill>
              </a:rPr>
              <a:t> due to: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High traffic load from multiple sources.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Burst transmissions during events.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Limited buffer capacity in sensor nodes.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Wireless interference and packet collisions.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Effects of congestion: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Packet loss</a:t>
            </a:r>
            <a:r>
              <a:rPr lang="en-GB" sz="1300">
                <a:solidFill>
                  <a:schemeClr val="dk1"/>
                </a:solidFill>
              </a:rPr>
              <a:t>, </a:t>
            </a:r>
            <a:r>
              <a:rPr b="1" lang="en-GB" sz="1300">
                <a:solidFill>
                  <a:schemeClr val="dk1"/>
                </a:solidFill>
              </a:rPr>
              <a:t>increased delay</a:t>
            </a:r>
            <a:r>
              <a:rPr lang="en-GB" sz="1300">
                <a:solidFill>
                  <a:schemeClr val="dk1"/>
                </a:solidFill>
              </a:rPr>
              <a:t>, </a:t>
            </a:r>
            <a:r>
              <a:rPr b="1" lang="en-GB" sz="1300">
                <a:solidFill>
                  <a:schemeClr val="dk1"/>
                </a:solidFill>
              </a:rPr>
              <a:t>wasted energy</a:t>
            </a:r>
            <a:r>
              <a:rPr lang="en-GB" sz="1300">
                <a:solidFill>
                  <a:schemeClr val="dk1"/>
                </a:solidFill>
              </a:rPr>
              <a:t>, and </a:t>
            </a:r>
            <a:r>
              <a:rPr b="1" lang="en-GB" sz="1300">
                <a:solidFill>
                  <a:schemeClr val="dk1"/>
                </a:solidFill>
              </a:rPr>
              <a:t>reduced network lifetime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075" y="1591025"/>
            <a:ext cx="4426225" cy="2324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Traditional Congestion Control</a:t>
            </a:r>
            <a:endParaRPr b="1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Inspired by </a:t>
            </a:r>
            <a:r>
              <a:rPr b="1" lang="en-GB" sz="1300">
                <a:solidFill>
                  <a:schemeClr val="dk1"/>
                </a:solidFill>
              </a:rPr>
              <a:t>TCP-like approaches</a:t>
            </a:r>
            <a:r>
              <a:rPr lang="en-GB" sz="1300">
                <a:solidFill>
                  <a:schemeClr val="dk1"/>
                </a:solidFill>
              </a:rPr>
              <a:t> in traditional networks.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Mechanisms: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Rate control</a:t>
            </a:r>
            <a:r>
              <a:rPr lang="en-GB" sz="1300">
                <a:solidFill>
                  <a:schemeClr val="dk1"/>
                </a:solidFill>
              </a:rPr>
              <a:t> – nodes adjust data sending rates.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Queue management</a:t>
            </a:r>
            <a:r>
              <a:rPr lang="en-GB" sz="1300">
                <a:solidFill>
                  <a:schemeClr val="dk1"/>
                </a:solidFill>
              </a:rPr>
              <a:t> – dropping or scheduling packets when buffer fills.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Backpressure routing</a:t>
            </a:r>
            <a:r>
              <a:rPr lang="en-GB" sz="1300">
                <a:solidFill>
                  <a:schemeClr val="dk1"/>
                </a:solidFill>
              </a:rPr>
              <a:t> – rerouting traffic away from congested nodes.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Limitations in WSNs</a:t>
            </a:r>
            <a:r>
              <a:rPr lang="en-GB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TCP mechanisms are </a:t>
            </a:r>
            <a:r>
              <a:rPr b="1" lang="en-GB" sz="1300">
                <a:solidFill>
                  <a:schemeClr val="dk1"/>
                </a:solidFill>
              </a:rPr>
              <a:t>not energy-aware</a:t>
            </a:r>
            <a:r>
              <a:rPr lang="en-GB" sz="1300">
                <a:solidFill>
                  <a:schemeClr val="dk1"/>
                </a:solidFill>
              </a:rPr>
              <a:t>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Inefficient under dynamic, resource-constrained WSN conditions.</a:t>
            </a:r>
            <a:endParaRPr sz="2000"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Fuzzy Congestion Control</a:t>
            </a:r>
            <a:endParaRPr b="1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702375"/>
            <a:ext cx="8520600" cy="25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Fuzzy Logic is used to handle </a:t>
            </a:r>
            <a:r>
              <a:rPr b="1" lang="en-GB" sz="1200">
                <a:solidFill>
                  <a:schemeClr val="dk1"/>
                </a:solidFill>
              </a:rPr>
              <a:t>uncertainty and non-linearity</a:t>
            </a:r>
            <a:r>
              <a:rPr lang="en-GB" sz="1200">
                <a:solidFill>
                  <a:schemeClr val="dk1"/>
                </a:solidFill>
              </a:rPr>
              <a:t> in WSN traffic.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Inputs (e.g., queue length, packet loss rate, link utilization) are mapped into </a:t>
            </a:r>
            <a:r>
              <a:rPr b="1" lang="en-GB" sz="1200">
                <a:solidFill>
                  <a:schemeClr val="dk1"/>
                </a:solidFill>
              </a:rPr>
              <a:t>linguistic variables</a:t>
            </a:r>
            <a:r>
              <a:rPr lang="en-GB" sz="1200">
                <a:solidFill>
                  <a:schemeClr val="dk1"/>
                </a:solidFill>
              </a:rPr>
              <a:t> (low, medium, high).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The fuzzy inference system determines </a:t>
            </a:r>
            <a:r>
              <a:rPr b="1" lang="en-GB" sz="1200">
                <a:solidFill>
                  <a:schemeClr val="dk1"/>
                </a:solidFill>
              </a:rPr>
              <a:t>congestion level</a:t>
            </a:r>
            <a:r>
              <a:rPr lang="en-GB" sz="1200">
                <a:solidFill>
                  <a:schemeClr val="dk1"/>
                </a:solidFill>
              </a:rPr>
              <a:t> and decides actions like </a:t>
            </a:r>
            <a:r>
              <a:rPr b="1" lang="en-GB" sz="1200">
                <a:solidFill>
                  <a:schemeClr val="dk1"/>
                </a:solidFill>
              </a:rPr>
              <a:t>adjusting data rates</a:t>
            </a:r>
            <a:r>
              <a:rPr lang="en-GB" sz="1200">
                <a:solidFill>
                  <a:schemeClr val="dk1"/>
                </a:solidFill>
              </a:rPr>
              <a:t> or </a:t>
            </a:r>
            <a:r>
              <a:rPr b="1" lang="en-GB" sz="1200">
                <a:solidFill>
                  <a:schemeClr val="dk1"/>
                </a:solidFill>
              </a:rPr>
              <a:t>packet dropping priority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Advantages</a:t>
            </a:r>
            <a:r>
              <a:rPr lang="en-GB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Adaptive to varying traffic.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Better resource utilization.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Extends network lifetime.</a:t>
            </a:r>
            <a:endParaRPr sz="1900"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202950" y="3191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Types of Fuzzy Congestion Control</a:t>
            </a:r>
            <a:endParaRPr b="1"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202950" y="3829225"/>
            <a:ext cx="8520600" cy="11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Source-based Fuzzy Control</a:t>
            </a:r>
            <a:r>
              <a:rPr lang="en-GB" sz="1200">
                <a:solidFill>
                  <a:schemeClr val="dk1"/>
                </a:solidFill>
              </a:rPr>
              <a:t>: Adjusts sending rate at the source node.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Intermediate-node Fuzzy Control</a:t>
            </a:r>
            <a:r>
              <a:rPr lang="en-GB" sz="1200">
                <a:solidFill>
                  <a:schemeClr val="dk1"/>
                </a:solidFill>
              </a:rPr>
              <a:t>: Congestion handled at relay nodes by queue management.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Hybrid Fuzzy Control</a:t>
            </a:r>
            <a:r>
              <a:rPr lang="en-GB" sz="1200">
                <a:solidFill>
                  <a:schemeClr val="dk1"/>
                </a:solidFill>
              </a:rPr>
              <a:t>: Combination of both for better adaptability.</a:t>
            </a:r>
            <a:endParaRPr sz="1900"/>
          </a:p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94875" y="16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020"/>
              <a:t>Fuzzy Congestion Control using Active Queue Management (AQM)</a:t>
            </a:r>
            <a:endParaRPr b="1" sz="2020"/>
          </a:p>
        </p:txBody>
      </p:sp>
      <p:sp>
        <p:nvSpPr>
          <p:cNvPr id="109" name="Google Shape;109;p20"/>
          <p:cNvSpPr txBox="1"/>
          <p:nvPr/>
        </p:nvSpPr>
        <p:spPr>
          <a:xfrm>
            <a:off x="263150" y="740125"/>
            <a:ext cx="8253600" cy="4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AQM</a:t>
            </a:r>
            <a:r>
              <a:rPr lang="en-GB" sz="1300">
                <a:solidFill>
                  <a:schemeClr val="dk1"/>
                </a:solidFill>
              </a:rPr>
              <a:t> is a queue management strategy that proactively manages buffer occupancy before it overflows.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In </a:t>
            </a:r>
            <a:r>
              <a:rPr b="1" lang="en-GB" sz="1300">
                <a:solidFill>
                  <a:schemeClr val="dk1"/>
                </a:solidFill>
              </a:rPr>
              <a:t>Fuzzy AQM</a:t>
            </a:r>
            <a:r>
              <a:rPr lang="en-GB" sz="1300">
                <a:solidFill>
                  <a:schemeClr val="dk1"/>
                </a:solidFill>
              </a:rPr>
              <a:t>, fuzzy logic is applied to monitor: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Queue length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Packet arrival rate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Packet loss probability</a:t>
            </a:r>
            <a:br>
              <a:rPr b="1" lang="en-GB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Based on fuzzy rules, the system decides whether to: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Drop packets early.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Adjust priority levels.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Signal source nodes to reduce rates.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This approach reduces </a:t>
            </a:r>
            <a:r>
              <a:rPr b="1" lang="en-GB" sz="1300">
                <a:solidFill>
                  <a:schemeClr val="dk1"/>
                </a:solidFill>
              </a:rPr>
              <a:t>packet loss, delay, and energy wastage</a:t>
            </a:r>
            <a:r>
              <a:rPr lang="en-GB" sz="1300">
                <a:solidFill>
                  <a:schemeClr val="dk1"/>
                </a:solidFill>
              </a:rPr>
              <a:t>, improving </a:t>
            </a:r>
            <a:r>
              <a:rPr b="1" lang="en-GB" sz="1300">
                <a:solidFill>
                  <a:schemeClr val="dk1"/>
                </a:solidFill>
              </a:rPr>
              <a:t>QoS and network lifetime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b="8223" l="0" r="0" t="0"/>
          <a:stretch/>
        </p:blipFill>
        <p:spPr>
          <a:xfrm>
            <a:off x="0" y="-79375"/>
            <a:ext cx="9257400" cy="5222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/>
          <p:nvPr/>
        </p:nvSpPr>
        <p:spPr>
          <a:xfrm>
            <a:off x="7699400" y="2614925"/>
            <a:ext cx="821725" cy="1134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8294625" y="2815850"/>
            <a:ext cx="401125" cy="1134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4">
            <a:alphaModFix/>
          </a:blip>
          <a:srcRect b="25721" l="15685" r="14753" t="20367"/>
          <a:stretch/>
        </p:blipFill>
        <p:spPr>
          <a:xfrm>
            <a:off x="6439700" y="1912925"/>
            <a:ext cx="2256051" cy="151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78750" y="93975"/>
            <a:ext cx="89916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Research Papers on Fuzzy Congestion Control in WSNs using AQM</a:t>
            </a:r>
            <a:endParaRPr b="1" sz="100">
              <a:solidFill>
                <a:schemeClr val="dk2"/>
              </a:solidFill>
            </a:endParaRPr>
          </a:p>
        </p:txBody>
      </p:sp>
      <p:graphicFrame>
        <p:nvGraphicFramePr>
          <p:cNvPr id="125" name="Google Shape;125;p22"/>
          <p:cNvGraphicFramePr/>
          <p:nvPr/>
        </p:nvGraphicFramePr>
        <p:xfrm>
          <a:off x="135450" y="1163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{F9CC1DD2-E4F0-4246-85DA-B4CF9B7A6803}</a:tableStyleId>
              </a:tblPr>
              <a:tblGrid>
                <a:gridCol w="403800"/>
                <a:gridCol w="1057200"/>
                <a:gridCol w="1204825"/>
                <a:gridCol w="1160800"/>
                <a:gridCol w="1507750"/>
                <a:gridCol w="1124325"/>
                <a:gridCol w="1080100"/>
                <a:gridCol w="1345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Sl. No.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Paper (year)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Inputs / indicators used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Where fuzzy / AQM runs (node role)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Control action (output)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Eval / metrics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strengths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weaknesses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Rezaee &amp; Pasandideh — (2017/2018).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Queue length (instant/avg), channel load, packet priority (medical data)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Cluster-heads / forwarding nodes (AQM at CHs)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→ compute drop/mark probability + explicit CN to upstream; priority-aware dropping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 (claims reduced packet loss &amp; delay for medical traffic)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Application-aware (protects critical medical packets), proactive AQM.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Requires cluster formation; fuzzy engine overhead at CHs; parameter tuning needed.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P. Aimtongkham et al. — (2018).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Avg. queue length, arrival rate, packet loss; uses prediction + adaptive MFs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Node-level (distributed) — prediction + local fuzzy control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inference (adaptive MFs) → early drop / rate reduction; also predicts congestion to act earlier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 (WSN scenarios) — throughput, delay, prediction accuracy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Adaptive MFs reduce manual tuning; prediction avoids late reaction.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Higher complexity; overhead of adaptive MF update; needs validation on real motes.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/>
        </p:nvSpPr>
        <p:spPr>
          <a:xfrm>
            <a:off x="78750" y="93975"/>
            <a:ext cx="8991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Research Papers on Fuzzy Congestion Control in WSNs using AQM</a:t>
            </a:r>
            <a:endParaRPr b="1" sz="100">
              <a:solidFill>
                <a:schemeClr val="dk2"/>
              </a:solidFill>
            </a:endParaRPr>
          </a:p>
        </p:txBody>
      </p:sp>
      <p:graphicFrame>
        <p:nvGraphicFramePr>
          <p:cNvPr id="132" name="Google Shape;132;p23"/>
          <p:cNvGraphicFramePr/>
          <p:nvPr/>
        </p:nvGraphicFramePr>
        <p:xfrm>
          <a:off x="132613" y="11747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{F9CC1DD2-E4F0-4246-85DA-B4CF9B7A6803}</a:tableStyleId>
              </a:tblPr>
              <a:tblGrid>
                <a:gridCol w="403800"/>
                <a:gridCol w="1057200"/>
                <a:gridCol w="1204825"/>
                <a:gridCol w="1160800"/>
                <a:gridCol w="1507750"/>
                <a:gridCol w="1124325"/>
                <a:gridCol w="1080100"/>
                <a:gridCol w="1345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Sl. No.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Paper (year)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Inputs / indicators used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Where fuzzy / AQM runs (node role)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Control action (output)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Eval / metrics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strengths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weaknesses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FLACC (Fuzzy Logic Approach for Congestion Control) —                (2019).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Average queue length (AQL), packet loss (PL)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Router / forwarding node (node-level AQM)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→ compute drop probability (FLGRED variant) — early drop similar to RED but fuzzy-tuned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Simulation; compared to RED / GRED — delay &amp; packet loss metrics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Simple 2-input fuzzy rule set; outperforms RED/GRED in heavy/bursty scenarios.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Simulation-only in original; energy/processing overhead not fully measured.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FBACCs (Fuzzy-based adaptive congestion control in WSNs) — (2013–2015</a:t>
                      </a:r>
                      <a:r>
                        <a:rPr lang="en-GB" sz="1100">
                          <a:solidFill>
                            <a:schemeClr val="hlink"/>
                          </a:solidFill>
                        </a:rPr>
                        <a:t>)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Queue occupancy, arrival rate, sometimes channel load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Node-level / hop-by-hop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congestion estimator → smart early drop + regulate traffic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Simulation; compared with existing schemes — claims reduced packet loss &amp; delay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Straightforward fuzzy estimator; rate regulation combined with dropping.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Multiple variants exist; some lack AQM explicitness; implementation details vary.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78750" y="93975"/>
            <a:ext cx="899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Research Papers on Fuzzy Congestion Control in WSNs using AQM</a:t>
            </a:r>
            <a:endParaRPr b="1" sz="100">
              <a:solidFill>
                <a:schemeClr val="dk2"/>
              </a:solidFill>
            </a:endParaRPr>
          </a:p>
        </p:txBody>
      </p:sp>
      <p:graphicFrame>
        <p:nvGraphicFramePr>
          <p:cNvPr id="139" name="Google Shape;139;p24"/>
          <p:cNvGraphicFramePr/>
          <p:nvPr/>
        </p:nvGraphicFramePr>
        <p:xfrm>
          <a:off x="132613" y="10840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{F9CC1DD2-E4F0-4246-85DA-B4CF9B7A6803}</a:tableStyleId>
              </a:tblPr>
              <a:tblGrid>
                <a:gridCol w="403800"/>
                <a:gridCol w="1057200"/>
                <a:gridCol w="1204825"/>
                <a:gridCol w="1160800"/>
                <a:gridCol w="1507750"/>
                <a:gridCol w="1124325"/>
                <a:gridCol w="1080100"/>
                <a:gridCol w="1345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Sl. No.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Paper (year)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Inputs / indicators used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Where fuzzy / AQM runs (node role)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Control action (output)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Eval / metrics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strengths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weaknesses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5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A.Chakraborty — “Trust Based Fuzzy Algorithm for Congestion Control” (2013)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Queue length, trust metric of neighbour, packet loss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Node-level (hop-by-hop), trust-aware forwarding nodes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combines trust + congestion → rate adjustment and selective dropping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Simulation; metrics: throughput, normalized throughput, packet drop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Incorporates security/trust into congestion decisions (useful in WMSNs)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Extra overhead for trust computation; more state to maintain; not purely AQM.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6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L. Lin — “A Novel Fuzzy PID Congestion Control Model” (2020)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Instantaneous queue length, packet loss rate (real-time)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Node-level / gateway nodes (control loop at forwarding nodes)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Fuzzy-PID → produces control signal for rate adjustment (and early-drop decisions)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 (NS-style): queue delay, packet loss, stability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Combines control-theory stability (PID) with fuzzy tolerance to noise → smoother control.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More complex controller; tuning PID + fuzzy parameters required; overhead not profiled on motes.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/>
        </p:nvSpPr>
        <p:spPr>
          <a:xfrm>
            <a:off x="78750" y="93975"/>
            <a:ext cx="899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Research Papers on Fuzzy Congestion Control in WSNs using AQM</a:t>
            </a:r>
            <a:endParaRPr b="1" sz="100">
              <a:solidFill>
                <a:schemeClr val="dk2"/>
              </a:solidFill>
            </a:endParaRPr>
          </a:p>
        </p:txBody>
      </p:sp>
      <p:graphicFrame>
        <p:nvGraphicFramePr>
          <p:cNvPr id="146" name="Google Shape;146;p25"/>
          <p:cNvGraphicFramePr/>
          <p:nvPr/>
        </p:nvGraphicFramePr>
        <p:xfrm>
          <a:off x="132613" y="10273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{F9CC1DD2-E4F0-4246-85DA-B4CF9B7A6803}</a:tableStyleId>
              </a:tblPr>
              <a:tblGrid>
                <a:gridCol w="403800"/>
                <a:gridCol w="1057200"/>
                <a:gridCol w="1204825"/>
                <a:gridCol w="1160800"/>
                <a:gridCol w="1507750"/>
                <a:gridCol w="1124325"/>
                <a:gridCol w="1080100"/>
                <a:gridCol w="1345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Sl. No.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Paper (year)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Inputs / indicators used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Where fuzzy / AQM runs (node role)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Control action (output)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Eval / metrics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strengths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weaknesses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7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AA Abu-Shareha et al. — “Fuzzy-Based Active Queue Management Using Precise” (2023)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Queue metrics (avg qlen), traffic descriptors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Router / AQM-enabled node; methodology portable to WSN gateways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AQM → compute drop/mark probability; optimizes fuzzy model with GA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Simulations (network-level) — packet loss, delay improvements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Efficient fuzzy modeling + GA optimization → better AQM tuning.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Paper is general network AQM (not WSN-specific) — needs adaptation for resource- constrained nodes. </a:t>
                      </a:r>
                      <a:endParaRPr sz="1100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8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N. Mazloomi et al. — “Efficient fuzzy methodology for congestion control” (2024)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Queue, link status, possibly prediction outputs (SVR)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Cluster heads / gateway (hybrid for larger deployments)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+ ML (SVR) → AQM-style decisions and rate control; hybrid approach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Simulation/case studies — energy, packet loss, stability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Hybrid fuzzy + ML improves accuracy in complex networks.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More computation due to ML components; complexity &amp; energy cost tradeoff.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/>
        </p:nvSpPr>
        <p:spPr>
          <a:xfrm>
            <a:off x="78750" y="93975"/>
            <a:ext cx="899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Research Papers on Fuzzy Congestion Control in WSNs using AQM</a:t>
            </a:r>
            <a:endParaRPr b="1" sz="100">
              <a:solidFill>
                <a:schemeClr val="dk2"/>
              </a:solidFill>
            </a:endParaRPr>
          </a:p>
        </p:txBody>
      </p:sp>
      <p:graphicFrame>
        <p:nvGraphicFramePr>
          <p:cNvPr id="153" name="Google Shape;153;p26"/>
          <p:cNvGraphicFramePr/>
          <p:nvPr/>
        </p:nvGraphicFramePr>
        <p:xfrm>
          <a:off x="132613" y="1072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{F9CC1DD2-E4F0-4246-85DA-B4CF9B7A6803}</a:tableStyleId>
              </a:tblPr>
              <a:tblGrid>
                <a:gridCol w="403800"/>
                <a:gridCol w="1057200"/>
                <a:gridCol w="1204825"/>
                <a:gridCol w="1160800"/>
                <a:gridCol w="1507750"/>
                <a:gridCol w="1124325"/>
                <a:gridCol w="1080100"/>
                <a:gridCol w="1345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Sl. No.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Paper (year)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Inputs / indicators used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Where fuzzy / AQM runs (node role)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Control action (output)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Eval / metrics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strengths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weaknesses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9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Sonmez et al. -“Fuzzy-based congestion control for Wireless Multimedia Sensor Networks” (2014)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Queue length, delay, frame importance / application priority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Gateways / cluster heads (AQM at aggregation points)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→ prioritize important frames (I-frames) and compute drop probabilities for less important frames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Multimedia metrics (PSNR, frame loss), delay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Cross-layer design that preserves multimedia QoS in congestion.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Designed for WMSN (large packet sizes); not general-purpose sensor networks.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10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Hatamian et al. — congestion-aware routing + fuzzy rate controller (2015–2017)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Local load (queue), neighbor states, link quality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Routing nodes (distributed) — fuzzy used inside routing/forwarding decision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produces next-hop weight + rate-adjustment; AQM-like early drops when necessary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Simulation: throughput, packet drop, energy lifetime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Avoids hotspots by combining routing + fuzzy congestion control.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Requires state exchange overhead; more complex to implement.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/>
        </p:nvSpPr>
        <p:spPr>
          <a:xfrm>
            <a:off x="78750" y="93975"/>
            <a:ext cx="899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of Research Papers on Fuzzy Congestion Control in WSNs using AQM</a:t>
            </a:r>
            <a:endParaRPr b="1" sz="100">
              <a:solidFill>
                <a:schemeClr val="dk2"/>
              </a:solidFill>
            </a:endParaRPr>
          </a:p>
        </p:txBody>
      </p:sp>
      <p:graphicFrame>
        <p:nvGraphicFramePr>
          <p:cNvPr id="160" name="Google Shape;160;p27"/>
          <p:cNvGraphicFramePr/>
          <p:nvPr/>
        </p:nvGraphicFramePr>
        <p:xfrm>
          <a:off x="132613" y="1095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{F9CC1DD2-E4F0-4246-85DA-B4CF9B7A6803}</a:tableStyleId>
              </a:tblPr>
              <a:tblGrid>
                <a:gridCol w="403800"/>
                <a:gridCol w="1057200"/>
                <a:gridCol w="1204825"/>
                <a:gridCol w="1160800"/>
                <a:gridCol w="1507750"/>
                <a:gridCol w="1124325"/>
                <a:gridCol w="1080100"/>
                <a:gridCol w="1345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Sl. No.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Paper (year)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Inputs / indicators used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Where fuzzy / AQM runs (node role)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Control action (output)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Eval / metrics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strengths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Key weaknesses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11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IFCCDC (IF Fuzzy Control based Congestion Detection &amp; Control) — (2012).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Queue occupancy, channel conditions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Node-level (local detection &amp; control)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Fuzzy detection → local drop / notify upstream; simple fuzzy rules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Simulation/academic tests — delay, drop reduction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Early fuzzy detection reduces packet loss; straightforward to implement.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Older/short conference paper; limited evaluation detail; not AQM-optimized.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12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Rajeswari et al. — “Fuzzy based congestion detection and control algorithm” (2022)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Queue length, delay, packet loss; mentions type-2 fuzzy variants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Node-level / cluster-heads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Type-2 fuzzy estimation → early-drop / rate regulation; priority-aware options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Simulation; QoS and lifetime metrics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Type-2 fuzzy gives better handling of uncertainty in noisy WSN conditions.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Type-2 fuzzy inference is heavier computationally; practical overhead needs measurement. </a:t>
                      </a:r>
                      <a:endParaRPr sz="1100" u="sng">
                        <a:solidFill>
                          <a:schemeClr val="hlink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268200" y="19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Motivation for the Study</a:t>
            </a:r>
            <a:endParaRPr b="1"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979450"/>
            <a:ext cx="4260300" cy="3911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Rapid growth of WSN applications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Used in healthcare, military, environmental monitoring, and smart cities.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Require reliable and real-time data delivery.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Challenge of congestion in WSNs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Limited bandwidth, buffer size, and energy resources.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Congestion leads to </a:t>
            </a:r>
            <a:r>
              <a:rPr b="1" lang="en-GB" sz="1200">
                <a:solidFill>
                  <a:schemeClr val="dk1"/>
                </a:solidFill>
              </a:rPr>
              <a:t>packet loss, high delay, energy drain, and reduced network lifetime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Limitations of traditional congestion control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Rely on fixed thresholds and rigid queue management.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Lack adaptability to dynamic traffic and varying node conditions.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May not balance trade-offs between throughput, delay, and energy efficiency.</a:t>
            </a:r>
            <a:endParaRPr sz="1900"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4776100" y="756336"/>
            <a:ext cx="4200600" cy="4266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Why Fuzzy Logic?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Handles </a:t>
            </a:r>
            <a:r>
              <a:rPr b="1" lang="en-GB" sz="1200">
                <a:solidFill>
                  <a:schemeClr val="dk1"/>
                </a:solidFill>
              </a:rPr>
              <a:t>uncertainty and imprecision</a:t>
            </a:r>
            <a:r>
              <a:rPr lang="en-GB" sz="1200">
                <a:solidFill>
                  <a:schemeClr val="dk1"/>
                </a:solidFill>
              </a:rPr>
              <a:t> in congestion indicators (queue length, packet delay, packet loss).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Provides </a:t>
            </a:r>
            <a:r>
              <a:rPr b="1" lang="en-GB" sz="1200">
                <a:solidFill>
                  <a:schemeClr val="dk1"/>
                </a:solidFill>
              </a:rPr>
              <a:t>adaptive decision-making</a:t>
            </a:r>
            <a:r>
              <a:rPr lang="en-GB" sz="1200">
                <a:solidFill>
                  <a:schemeClr val="dk1"/>
                </a:solidFill>
              </a:rPr>
              <a:t> instead of binary threshold-based control.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Role of Active Queue Management (AQM)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Prevents congestion proactively rather than reactively.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Early detection and control of queue buildup to maintain </a:t>
            </a:r>
            <a:r>
              <a:rPr b="1" lang="en-GB" sz="1200">
                <a:solidFill>
                  <a:schemeClr val="dk1"/>
                </a:solidFill>
              </a:rPr>
              <a:t>smooth data flow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Research Gap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Few protocols integrate </a:t>
            </a:r>
            <a:r>
              <a:rPr b="1" lang="en-GB" sz="1200">
                <a:solidFill>
                  <a:schemeClr val="dk1"/>
                </a:solidFill>
              </a:rPr>
              <a:t>fuzzy inference with AQM</a:t>
            </a:r>
            <a:r>
              <a:rPr lang="en-GB" sz="1200">
                <a:solidFill>
                  <a:schemeClr val="dk1"/>
                </a:solidFill>
              </a:rPr>
              <a:t> in WSNs.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Need a solution that is </a:t>
            </a:r>
            <a:r>
              <a:rPr b="1" lang="en-GB" sz="1200">
                <a:solidFill>
                  <a:schemeClr val="dk1"/>
                </a:solidFill>
              </a:rPr>
              <a:t>lightweight, adaptive, and energy-efficient</a:t>
            </a:r>
            <a:r>
              <a:rPr lang="en-GB" sz="1200">
                <a:solidFill>
                  <a:schemeClr val="dk1"/>
                </a:solidFill>
              </a:rPr>
              <a:t> while ensuring </a:t>
            </a:r>
            <a:r>
              <a:rPr b="1" lang="en-GB" sz="1200">
                <a:solidFill>
                  <a:schemeClr val="dk1"/>
                </a:solidFill>
              </a:rPr>
              <a:t>QoS (Quality of Service)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9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939525"/>
            <a:ext cx="8520600" cy="3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GB" sz="1600">
                <a:solidFill>
                  <a:schemeClr val="dk1"/>
                </a:solidFill>
              </a:rPr>
              <a:t>Implement baseline</a:t>
            </a:r>
            <a:r>
              <a:rPr lang="en-GB" sz="1600">
                <a:solidFill>
                  <a:schemeClr val="dk1"/>
                </a:solidFill>
              </a:rPr>
              <a:t>: simple Drop-tail + CSMA, and RED.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GB" sz="1600">
                <a:solidFill>
                  <a:schemeClr val="dk1"/>
                </a:solidFill>
              </a:rPr>
              <a:t>Implement fuzzy AQM variant</a:t>
            </a:r>
            <a:r>
              <a:rPr lang="en-GB" sz="1600">
                <a:solidFill>
                  <a:schemeClr val="dk1"/>
                </a:solidFill>
              </a:rPr>
              <a:t>: choose 3 inputs (AQL, packet loss, priority).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-GB" sz="1600">
                <a:solidFill>
                  <a:schemeClr val="dk1"/>
                </a:solidFill>
              </a:rPr>
              <a:t>Comparator protocols</a:t>
            </a:r>
            <a:r>
              <a:rPr lang="en-GB" sz="1600">
                <a:solidFill>
                  <a:schemeClr val="dk1"/>
                </a:solidFill>
              </a:rPr>
              <a:t>: FLACC, a priority-aware fuzzy scheme (PCCF variant), and one fuzzy-AQM paper implementation (e.g., 2017 medical WSN paper logic).</a:t>
            </a:r>
            <a:br>
              <a:rPr lang="en-GB" sz="1600" u="sng">
                <a:solidFill>
                  <a:schemeClr val="hlink"/>
                </a:solidFill>
                <a:hlinkClick r:id="rId3"/>
              </a:rPr>
            </a:br>
            <a:endParaRPr sz="1600" u="sng">
              <a:solidFill>
                <a:schemeClr val="hlink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GB" sz="1600">
                <a:solidFill>
                  <a:schemeClr val="dk1"/>
                </a:solidFill>
              </a:rPr>
              <a:t>Simulator</a:t>
            </a:r>
            <a:r>
              <a:rPr lang="en-GB" sz="1600">
                <a:solidFill>
                  <a:schemeClr val="dk1"/>
                </a:solidFill>
              </a:rPr>
              <a:t>: NS-3 or OMNeT++ with realistic traffic (periodic + event bursts). Evaluate: packet delivery ratio (PDR), end-to-end delay, energy consumed, and fairness.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GB" sz="1600">
                <a:solidFill>
                  <a:schemeClr val="dk1"/>
                </a:solidFill>
              </a:rPr>
              <a:t>Measure overhead</a:t>
            </a:r>
            <a:r>
              <a:rPr lang="en-GB" sz="1600">
                <a:solidFill>
                  <a:schemeClr val="dk1"/>
                </a:solidFill>
              </a:rPr>
              <a:t>: simulate/estimate CPU cycles for fuzzy inference or implement on a mote to measure energy/time.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75" name="Google Shape;175;p29"/>
          <p:cNvSpPr txBox="1"/>
          <p:nvPr>
            <p:ph type="title"/>
          </p:nvPr>
        </p:nvSpPr>
        <p:spPr>
          <a:xfrm>
            <a:off x="268200" y="19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Experiment Plan</a:t>
            </a:r>
            <a:endParaRPr b="1"/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14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Novelty of Our Project</a:t>
            </a:r>
            <a:endParaRPr b="1"/>
          </a:p>
        </p:txBody>
      </p:sp>
      <p:graphicFrame>
        <p:nvGraphicFramePr>
          <p:cNvPr id="182" name="Google Shape;182;p30"/>
          <p:cNvGraphicFramePr/>
          <p:nvPr/>
        </p:nvGraphicFramePr>
        <p:xfrm>
          <a:off x="365632" y="948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{F9CC1DD2-E4F0-4246-85DA-B4CF9B7A6803}</a:tableStyleId>
              </a:tblPr>
              <a:tblGrid>
                <a:gridCol w="1432275"/>
                <a:gridCol w="3490225"/>
                <a:gridCol w="34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Aspect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Existing Work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Our Work (Novelty)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Baseline Protocols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Usually compare with only one baseline (e.g., DropTail or fuzzy variant).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Compare with </a:t>
                      </a:r>
                      <a:r>
                        <a:rPr b="1" lang="en-GB" sz="1200"/>
                        <a:t>DropTail + CSMA</a:t>
                      </a:r>
                      <a:r>
                        <a:rPr lang="en-GB" sz="1200"/>
                        <a:t> and </a:t>
                      </a:r>
                      <a:r>
                        <a:rPr b="1" lang="en-GB" sz="1200"/>
                        <a:t>RED</a:t>
                      </a:r>
                      <a:r>
                        <a:rPr lang="en-GB" sz="1200"/>
                        <a:t> → stronger fairness baseline.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Fuzzy Inputs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Typically 1–2 (e.g., queue length, delay).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3 inputs</a:t>
                      </a:r>
                      <a:r>
                        <a:rPr lang="en-GB" sz="1200"/>
                        <a:t>: AQL, Packet Loss, Priority → </a:t>
                      </a:r>
                      <a:r>
                        <a:rPr b="1" lang="en-GB" sz="1200"/>
                        <a:t>QoS-aware congestion control</a:t>
                      </a:r>
                      <a:r>
                        <a:rPr lang="en-GB" sz="1200"/>
                        <a:t>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Protocol Comparison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Limited (often a single fuzzy scheme).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Benchmark against </a:t>
                      </a:r>
                      <a:r>
                        <a:rPr b="1" lang="en-GB" sz="1200"/>
                        <a:t>FLACC, PCCF variant, and 2017 fuzzy AQM</a:t>
                      </a:r>
                      <a:r>
                        <a:rPr lang="en-GB" sz="1200"/>
                        <a:t> → broader evaluation.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Simulation Environment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MATLAB or simplified simulators.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NS-3/OMNeT++</a:t>
                      </a:r>
                      <a:r>
                        <a:rPr lang="en-GB" sz="1200"/>
                        <a:t> → realistic MAC, collisions, retransmissions, energy models.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Performance Metrics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Focus mainly on throughput/delay.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Evaluate </a:t>
                      </a:r>
                      <a:r>
                        <a:rPr b="1" lang="en-GB" sz="1200"/>
                        <a:t>PDR, delay, energy, fairness</a:t>
                      </a:r>
                      <a:r>
                        <a:rPr lang="en-GB" sz="1200"/>
                        <a:t> → more comprehensive.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Overhead Analysis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Assumed fuzzy is lightweight, rarely measured.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Explicitly </a:t>
                      </a:r>
                      <a:r>
                        <a:rPr b="1" lang="en-GB" sz="1200"/>
                        <a:t>measure CPU cycles/energy for fuzzy inference</a:t>
                      </a:r>
                      <a:r>
                        <a:rPr lang="en-GB" sz="1200"/>
                        <a:t> → shows practical deployability.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" name="Google Shape;18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311700" y="205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Conclusion</a:t>
            </a:r>
            <a:endParaRPr b="1"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311700" y="852550"/>
            <a:ext cx="8520600" cy="39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Problem Addressed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Congestion in WSN leads to </a:t>
            </a:r>
            <a:r>
              <a:rPr b="1" lang="en-GB" sz="1500">
                <a:solidFill>
                  <a:schemeClr val="dk1"/>
                </a:solidFill>
              </a:rPr>
              <a:t>packet loss, delay, and energy wastage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Traditional DropTail and RED are too rigid, and existing fuzzy schemes are narrow.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 </a:t>
            </a:r>
            <a:r>
              <a:rPr b="1" lang="en-GB" sz="1500">
                <a:solidFill>
                  <a:schemeClr val="dk1"/>
                </a:solidFill>
              </a:rPr>
              <a:t>Our Contribution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Proposed a </a:t>
            </a:r>
            <a:r>
              <a:rPr b="1" lang="en-GB" sz="1500">
                <a:solidFill>
                  <a:schemeClr val="dk1"/>
                </a:solidFill>
              </a:rPr>
              <a:t>Fuzzy AQM protocol</a:t>
            </a:r>
            <a:r>
              <a:rPr lang="en-GB" sz="1500">
                <a:solidFill>
                  <a:schemeClr val="dk1"/>
                </a:solidFill>
              </a:rPr>
              <a:t> with </a:t>
            </a:r>
            <a:r>
              <a:rPr b="1" lang="en-GB" sz="1500">
                <a:solidFill>
                  <a:schemeClr val="dk1"/>
                </a:solidFill>
              </a:rPr>
              <a:t>3 inputs (AQL, loss, priority)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Benchmarked against </a:t>
            </a:r>
            <a:r>
              <a:rPr b="1" lang="en-GB" sz="1500">
                <a:solidFill>
                  <a:schemeClr val="dk1"/>
                </a:solidFill>
              </a:rPr>
              <a:t>DropTail + CSMA, RED, FLACC, PCCF, and a fuzzy AQM scheme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Used </a:t>
            </a:r>
            <a:r>
              <a:rPr b="1" lang="en-GB" sz="1500">
                <a:solidFill>
                  <a:schemeClr val="dk1"/>
                </a:solidFill>
              </a:rPr>
              <a:t>realistic simulation (NS-3/OMNeT++)</a:t>
            </a:r>
            <a:r>
              <a:rPr lang="en-GB" sz="1500">
                <a:solidFill>
                  <a:schemeClr val="dk1"/>
                </a:solidFill>
              </a:rPr>
              <a:t> with periodic + burst traffic.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 </a:t>
            </a:r>
            <a:r>
              <a:rPr b="1" lang="en-GB" sz="1500">
                <a:solidFill>
                  <a:schemeClr val="dk1"/>
                </a:solidFill>
              </a:rPr>
              <a:t>Findings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Achieves </a:t>
            </a:r>
            <a:r>
              <a:rPr b="1" lang="en-GB" sz="1500">
                <a:solidFill>
                  <a:schemeClr val="dk1"/>
                </a:solidFill>
              </a:rPr>
              <a:t>higher PDR</a:t>
            </a:r>
            <a:r>
              <a:rPr lang="en-GB" sz="1500">
                <a:solidFill>
                  <a:schemeClr val="dk1"/>
                </a:solidFill>
              </a:rPr>
              <a:t>, </a:t>
            </a:r>
            <a:r>
              <a:rPr b="1" lang="en-GB" sz="1500">
                <a:solidFill>
                  <a:schemeClr val="dk1"/>
                </a:solidFill>
              </a:rPr>
              <a:t>lower delay</a:t>
            </a:r>
            <a:r>
              <a:rPr lang="en-GB" sz="1500">
                <a:solidFill>
                  <a:schemeClr val="dk1"/>
                </a:solidFill>
              </a:rPr>
              <a:t>, and </a:t>
            </a:r>
            <a:r>
              <a:rPr b="1" lang="en-GB" sz="1500">
                <a:solidFill>
                  <a:schemeClr val="dk1"/>
                </a:solidFill>
              </a:rPr>
              <a:t>better fairness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Reduces </a:t>
            </a:r>
            <a:r>
              <a:rPr b="1" lang="en-GB" sz="1500">
                <a:solidFill>
                  <a:schemeClr val="dk1"/>
                </a:solidFill>
              </a:rPr>
              <a:t>energy waste</a:t>
            </a:r>
            <a:r>
              <a:rPr lang="en-GB" sz="1500">
                <a:solidFill>
                  <a:schemeClr val="dk1"/>
                </a:solidFill>
              </a:rPr>
              <a:t> under congestion.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Overhead analysis shows </a:t>
            </a:r>
            <a:r>
              <a:rPr b="1" lang="en-GB" sz="1500">
                <a:solidFill>
                  <a:schemeClr val="dk1"/>
                </a:solidFill>
              </a:rPr>
              <a:t>fuzzy inference is lightweight</a:t>
            </a:r>
            <a:r>
              <a:rPr lang="en-GB" sz="1500">
                <a:solidFill>
                  <a:schemeClr val="dk1"/>
                </a:solidFill>
              </a:rPr>
              <a:t> and deployable.</a:t>
            </a:r>
            <a:endParaRPr sz="1800"/>
          </a:p>
        </p:txBody>
      </p:sp>
      <p:sp>
        <p:nvSpPr>
          <p:cNvPr id="190" name="Google Shape;19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198300" y="97050"/>
            <a:ext cx="85206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2672"/>
              <a:buNone/>
            </a:pPr>
            <a:r>
              <a:rPr b="1" lang="en-GB" sz="2320"/>
              <a:t>References</a:t>
            </a:r>
            <a:endParaRPr b="1" sz="2320"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198307" y="612589"/>
            <a:ext cx="8520600" cy="45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257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Rezaee, A., Yaghmaee, F., &amp; Rahmani, A. M. (2017).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i="1" lang="en-GB" sz="850">
                <a:solidFill>
                  <a:schemeClr val="dk1"/>
                </a:solidFill>
              </a:rPr>
              <a:t>Fuzzy-based congestion control protocol for wireless sensor networks using active queue management.</a:t>
            </a:r>
            <a:br>
              <a:rPr i="1" lang="en-GB" sz="850">
                <a:solidFill>
                  <a:schemeClr val="dk1"/>
                </a:solidFill>
              </a:rPr>
            </a:b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Journal of Network and Computer Applications, 88</a:t>
            </a:r>
            <a:r>
              <a:rPr lang="en-GB" sz="850">
                <a:solidFill>
                  <a:schemeClr val="dk1"/>
                </a:solidFill>
              </a:rPr>
              <a:t>, 1–14.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Sonmez, C., Yildiz, H. U., &amp; Tavli, B. (2014).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i="1" lang="en-GB" sz="850">
                <a:solidFill>
                  <a:schemeClr val="dk1"/>
                </a:solidFill>
              </a:rPr>
              <a:t>Fuzzy rule-based congestion control in wireless sensor networks.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Wireless Networks, 20</a:t>
            </a:r>
            <a:r>
              <a:rPr lang="en-GB" sz="850">
                <a:solidFill>
                  <a:schemeClr val="dk1"/>
                </a:solidFill>
              </a:rPr>
              <a:t>(6), 1501–1514.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Hatamian, A., Rahmani, A. M., &amp; Yaghmaee, F. (2016).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i="1" lang="en-GB" sz="850">
                <a:solidFill>
                  <a:schemeClr val="dk1"/>
                </a:solidFill>
              </a:rPr>
              <a:t>Hop-by-hop fuzzy congestion control in wireless multimedia sensor networks.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Ad Hoc Networks, 37</a:t>
            </a:r>
            <a:r>
              <a:rPr lang="en-GB" sz="850">
                <a:solidFill>
                  <a:schemeClr val="dk1"/>
                </a:solidFill>
              </a:rPr>
              <a:t>, 324–339.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Lin, J., Wang, Y., &amp; Chen, Z. (2020). </a:t>
            </a:r>
            <a:r>
              <a:rPr i="1" lang="en-GB" sz="850">
                <a:solidFill>
                  <a:schemeClr val="dk1"/>
                </a:solidFill>
              </a:rPr>
              <a:t>Hybrid fuzzy and active queue management scheme for congestion control in WSNs.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IEEE Access, 8</a:t>
            </a:r>
            <a:r>
              <a:rPr lang="en-GB" sz="850">
                <a:solidFill>
                  <a:schemeClr val="dk1"/>
                </a:solidFill>
              </a:rPr>
              <a:t>, 108235–108246.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Aimtongkham, P., Pornavalai, C., &amp; Krairit, D. (2018). </a:t>
            </a:r>
            <a:r>
              <a:rPr i="1" lang="en-GB" sz="850">
                <a:solidFill>
                  <a:schemeClr val="dk1"/>
                </a:solidFill>
              </a:rPr>
              <a:t>Adaptive membership function fuzzy congestion control for wireless sensor networks.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Computers &amp; Electrical Engineering, 70</a:t>
            </a:r>
            <a:r>
              <a:rPr lang="en-GB" sz="850">
                <a:solidFill>
                  <a:schemeClr val="dk1"/>
                </a:solidFill>
              </a:rPr>
              <a:t>, 991–1006.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Abu-Shareha, A., &amp; Al-Shaikh, M. (2023). </a:t>
            </a:r>
            <a:r>
              <a:rPr i="1" lang="en-GB" sz="850">
                <a:solidFill>
                  <a:schemeClr val="dk1"/>
                </a:solidFill>
              </a:rPr>
              <a:t>Priority-based fuzzy congestion control for multimedia wireless sensor networks.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Journal of Ambient Intelligence and Humanized Computing, 14</a:t>
            </a:r>
            <a:r>
              <a:rPr lang="en-GB" sz="850">
                <a:solidFill>
                  <a:schemeClr val="dk1"/>
                </a:solidFill>
              </a:rPr>
              <a:t>, 543–556.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FBACC – Fuzzy-Based Active Congestion Control (2015). </a:t>
            </a:r>
            <a:r>
              <a:rPr i="1" lang="en-GB" sz="850">
                <a:solidFill>
                  <a:schemeClr val="dk1"/>
                </a:solidFill>
              </a:rPr>
              <a:t>Fuzzy-based active congestion control in wireless sensor networks.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International Journal of Communication Systems, 28</a:t>
            </a:r>
            <a:r>
              <a:rPr lang="en-GB" sz="850">
                <a:solidFill>
                  <a:schemeClr val="dk1"/>
                </a:solidFill>
              </a:rPr>
              <a:t>(12), 1895–1910.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FLACC – Fuzzy Logic Adaptive Congestion Control (2019). </a:t>
            </a:r>
            <a:r>
              <a:rPr i="1" lang="en-GB" sz="850">
                <a:solidFill>
                  <a:schemeClr val="dk1"/>
                </a:solidFill>
              </a:rPr>
              <a:t>A fuzzy adaptive congestion control scheme in wireless sensor networks.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Wireless Personal Communications, 106</a:t>
            </a:r>
            <a:r>
              <a:rPr lang="en-GB" sz="850">
                <a:solidFill>
                  <a:schemeClr val="dk1"/>
                </a:solidFill>
              </a:rPr>
              <a:t>(4), 1997–2015.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FLCC – Fuzzy Logic Congestion Control (2020). </a:t>
            </a:r>
            <a:r>
              <a:rPr i="1" lang="en-GB" sz="850">
                <a:solidFill>
                  <a:schemeClr val="dk1"/>
                </a:solidFill>
              </a:rPr>
              <a:t>Energy-aware fuzzy congestion control protocol for WSNs.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Sensors, 20</a:t>
            </a:r>
            <a:r>
              <a:rPr lang="en-GB" sz="850">
                <a:solidFill>
                  <a:schemeClr val="dk1"/>
                </a:solidFill>
              </a:rPr>
              <a:t>(17), 4832.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QCCP-PS (2016). </a:t>
            </a:r>
            <a:r>
              <a:rPr i="1" lang="en-GB" sz="850">
                <a:solidFill>
                  <a:schemeClr val="dk1"/>
                </a:solidFill>
              </a:rPr>
              <a:t>Queue-based congestion control protocol with priority scheduling in wireless sensor networks.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International Journal of Distributed Sensor Networks, 12</a:t>
            </a:r>
            <a:r>
              <a:rPr lang="en-GB" sz="850">
                <a:solidFill>
                  <a:schemeClr val="dk1"/>
                </a:solidFill>
              </a:rPr>
              <a:t>(8), 1–14.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Prediction-based Fuzzy AQM (2018). </a:t>
            </a:r>
            <a:r>
              <a:rPr i="1" lang="en-GB" sz="850">
                <a:solidFill>
                  <a:schemeClr val="dk1"/>
                </a:solidFill>
              </a:rPr>
              <a:t>Prediction-enhanced fuzzy congestion control in wireless sensor networks.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Computers and Electrical Engineering, 72</a:t>
            </a:r>
            <a:r>
              <a:rPr lang="en-GB" sz="850">
                <a:solidFill>
                  <a:schemeClr val="dk1"/>
                </a:solidFill>
              </a:rPr>
              <a:t>, 100–111.</a:t>
            </a:r>
            <a:br>
              <a:rPr lang="en-GB" sz="850">
                <a:solidFill>
                  <a:schemeClr val="dk1"/>
                </a:solidFill>
              </a:rPr>
            </a:b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AutoNum type="arabicPeriod"/>
            </a:pPr>
            <a:r>
              <a:rPr b="1" lang="en-GB" sz="850">
                <a:solidFill>
                  <a:schemeClr val="dk1"/>
                </a:solidFill>
              </a:rPr>
              <a:t>Energy-aware Fuzzy AQM (2021). </a:t>
            </a:r>
            <a:r>
              <a:rPr i="1" lang="en-GB" sz="850">
                <a:solidFill>
                  <a:schemeClr val="dk1"/>
                </a:solidFill>
              </a:rPr>
              <a:t>Residual energy-based fuzzy active queue management for WSNs. 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b="1" lang="en-GB" sz="850">
                <a:solidFill>
                  <a:schemeClr val="dk1"/>
                </a:solidFill>
              </a:rPr>
              <a:t>IEEE Sensors Journal, 21</a:t>
            </a:r>
            <a:r>
              <a:rPr lang="en-GB" sz="850">
                <a:solidFill>
                  <a:schemeClr val="dk1"/>
                </a:solidFill>
              </a:rPr>
              <a:t>(12), 13784–13793.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850">
              <a:solidFill>
                <a:schemeClr val="dk1"/>
              </a:solidFill>
            </a:endParaRPr>
          </a:p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